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09550"/>
            <a:ext cx="10572750" cy="742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400" b="1">
                <a:solidFill>
                  <a:srgbClr val="EAF0FA"/>
                </a:solidFill>
                <a:latin typeface="Segoe UI"/>
              </a:rPr>
              <a:t>GEMA · El cerebro del gemelo digital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8A95AC"/>
                </a:solidFill>
                <a:latin typeface="Segoe UI"/>
              </a:rPr>
              <a:t>Dos modelos de aprendizaje automático convierten tus datos diarios en predicciones útiles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9000" y="285750"/>
            <a:ext cx="857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1FD0A3"/>
                </a:solidFill>
                <a:latin typeface="Segoe UI"/>
              </a:rPr>
              <a:t>1 / 4</a:t>
            </a:r>
          </a:p>
        </p:txBody>
      </p:sp>
      <p:pic>
        <p:nvPicPr>
          <p:cNvPr id="4" name="Picture 3" descr="pipeline_mode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028700"/>
            <a:ext cx="10763250" cy="441569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1000" y="5577742"/>
            <a:ext cx="3733799" cy="861157"/>
          </a:xfrm>
          <a:prstGeom prst="roundRect">
            <a:avLst>
              <a:gd name="adj" fmla="val 7000"/>
            </a:avLst>
          </a:prstGeom>
          <a:solidFill>
            <a:srgbClr val="131A2C"/>
          </a:solidFill>
          <a:ln w="17780">
            <a:solidFill>
              <a:srgbClr val="1FD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4350" y="5653942"/>
            <a:ext cx="3467100" cy="708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FD0A3"/>
                </a:solidFill>
                <a:latin typeface="Segoe UI"/>
              </a:rPr>
              <a:t>CON QUÉ SE ENTRENÓ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EAF0FA"/>
                </a:solidFill>
                <a:latin typeface="Segoe UI"/>
              </a:rPr>
              <a:t>6 000 perfiles y 9 000 comidas simuladas a partir de estudios poblacionales (Perú y EE. UU.) y fisiología publicada, mientras llegan los datos de usuarios reales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5577742"/>
            <a:ext cx="3733799" cy="861157"/>
          </a:xfrm>
          <a:prstGeom prst="roundRect">
            <a:avLst>
              <a:gd name="adj" fmla="val 7000"/>
            </a:avLst>
          </a:prstGeom>
          <a:solidFill>
            <a:srgbClr val="131A2C"/>
          </a:solidFill>
          <a:ln w="17780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76750" y="5653942"/>
            <a:ext cx="3467100" cy="708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4DA3FF"/>
                </a:solidFill>
                <a:latin typeface="Segoe UI"/>
              </a:rPr>
              <a:t>POR QUÉ ES CONFIABLE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EAF0FA"/>
                </a:solidFill>
                <a:latin typeface="Segoe UI"/>
              </a:rPr>
              <a:t>Resultados verificables y repetibles: el sistema completo se puede volver a correr y entrega siempre las mismas cifras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05800" y="5577742"/>
            <a:ext cx="3733799" cy="861157"/>
          </a:xfrm>
          <a:prstGeom prst="roundRect">
            <a:avLst>
              <a:gd name="adj" fmla="val 7000"/>
            </a:avLst>
          </a:prstGeom>
          <a:solidFill>
            <a:srgbClr val="131A2C"/>
          </a:solidFill>
          <a:ln w="17780">
            <a:solidFill>
              <a:srgbClr val="FFB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39150" y="5653942"/>
            <a:ext cx="3467100" cy="708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FFB23E"/>
                </a:solidFill>
                <a:latin typeface="Segoe UI"/>
              </a:rPr>
              <a:t>METAS CUMPLIDAS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EAF0FA"/>
                </a:solidFill>
                <a:latin typeface="Segoe UI"/>
              </a:rPr>
              <a:t>Riesgo: acierta 88.5 % (meta: 85 %) · Glucosa: error de ±6 mg/dL (meta: ±15) — ambas superadas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000" y="6591300"/>
            <a:ext cx="762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A95AC"/>
                </a:solidFill>
                <a:latin typeface="Segoe UI"/>
              </a:rPr>
              <a:t>GEMA · Gemelo digital metabólico — Lima, Perú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1999" y="659130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95AC"/>
                </a:solidFill>
                <a:latin typeface="Segoe UI"/>
              </a:rPr>
              <a:t>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09550"/>
            <a:ext cx="10572750" cy="742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400" b="1">
                <a:solidFill>
                  <a:srgbClr val="EAF0FA"/>
                </a:solidFill>
                <a:latin typeface="Segoe UI"/>
              </a:rPr>
              <a:t>Modelo 1 · ¿Qué nivel de riesgo metabólico tienes hoy?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8A95AC"/>
                </a:solidFill>
                <a:latin typeface="Segoe UI"/>
              </a:rPr>
              <a:t>Random Forest: combina 200 árboles de decisión para clasificar el riesgo con los últimos 7 días del usuario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9000" y="285750"/>
            <a:ext cx="857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1FD0A3"/>
                </a:solidFill>
                <a:latin typeface="Segoe UI"/>
              </a:rPr>
              <a:t>2 /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000" y="1066800"/>
            <a:ext cx="3733799" cy="1809750"/>
          </a:xfrm>
          <a:prstGeom prst="roundRect">
            <a:avLst>
              <a:gd name="adj" fmla="val 7000"/>
            </a:avLst>
          </a:prstGeom>
          <a:solidFill>
            <a:srgbClr val="131A2C"/>
          </a:solidFill>
          <a:ln w="17780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4350" y="1162050"/>
            <a:ext cx="3467100" cy="1619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4DA3FF"/>
                </a:solidFill>
                <a:latin typeface="Segoe UI"/>
              </a:rPr>
              <a:t>QUÉ RECIBE · 8 datos de los últimos 7 días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EAF0FA"/>
                </a:solidFill>
                <a:latin typeface="Segoe UI"/>
              </a:rPr>
              <a:t>• Sensor de glucosa: tiempo en valores saludables, variabilidad y pico promedio después de comer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EAF0FA"/>
                </a:solidFill>
                <a:latin typeface="Segoe UI"/>
              </a:rPr>
              <a:t>• Smartwatch: horas de sueño, pasos diarios y variabilidad del ritmo cardíaco (indicador de estrés)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EAF0FA"/>
                </a:solidFill>
                <a:latin typeface="Segoe UI"/>
              </a:rPr>
              <a:t>• Análisis de sangre (opcional): índice TyG — triglicéridos y glucosa en ayunas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EAF0FA"/>
                </a:solidFill>
                <a:latin typeface="Segoe UI"/>
              </a:rPr>
              <a:t>• Formulario de la app: medida de cintura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066800"/>
            <a:ext cx="3733799" cy="1809750"/>
          </a:xfrm>
          <a:prstGeom prst="roundRect">
            <a:avLst>
              <a:gd name="adj" fmla="val 7000"/>
            </a:avLst>
          </a:prstGeom>
          <a:solidFill>
            <a:srgbClr val="131A2C"/>
          </a:solidFill>
          <a:ln w="17780">
            <a:solidFill>
              <a:srgbClr val="1FD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76750" y="1162050"/>
            <a:ext cx="3467100" cy="1619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1FD0A3"/>
                </a:solidFill>
                <a:latin typeface="Segoe UI"/>
              </a:rPr>
              <a:t>QUÉ DEVUELVE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EAF0FA"/>
                </a:solidFill>
                <a:latin typeface="Segoe UI"/>
              </a:rPr>
              <a:t>• Nivel de riesgo: bajo / moderado / alto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EAF0FA"/>
                </a:solidFill>
                <a:latin typeface="Segoe UI"/>
              </a:rPr>
              <a:t>• La probabilidad de cada nivel (qué tan seguro está el modelo)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EAF0FA"/>
                </a:solidFill>
                <a:latin typeface="Segoe UI"/>
              </a:rPr>
              <a:t>• Con esto la app calcula el ICM proyectado: el color y la expresión del gemelo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05800" y="1066800"/>
            <a:ext cx="3733799" cy="1809750"/>
          </a:xfrm>
          <a:prstGeom prst="roundRect">
            <a:avLst>
              <a:gd name="adj" fmla="val 7000"/>
            </a:avLst>
          </a:prstGeom>
          <a:solidFill>
            <a:srgbClr val="131A2C"/>
          </a:solidFill>
          <a:ln w="17780">
            <a:solidFill>
              <a:srgbClr val="FFB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150" y="1162050"/>
            <a:ext cx="3467100" cy="1619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FFB23E"/>
                </a:solidFill>
                <a:latin typeface="Segoe UI"/>
              </a:rPr>
              <a:t>QUÉ TAN BIEN FUNCIONA · 1 200 casos de prueba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EAF0FA"/>
                </a:solidFill>
                <a:latin typeface="Segoe UI"/>
              </a:rPr>
              <a:t>• Acierta el nivel de riesgo en 9 de cada 10 evaluaciones (88.5 %)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EAF0FA"/>
                </a:solidFill>
                <a:latin typeface="Segoe UI"/>
              </a:rPr>
              <a:t>• El resultado es estable al repetir la prueba 5 veces (87.5 ± 0.9 %)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EAF0FA"/>
                </a:solidFill>
                <a:latin typeface="Segoe UI"/>
              </a:rPr>
              <a:t>• Nunca confunde riesgo bajo con alto: si falla, es entre niveles vecinos</a:t>
            </a:r>
          </a:p>
        </p:txBody>
      </p:sp>
      <p:pic>
        <p:nvPicPr>
          <p:cNvPr id="10" name="Picture 9" descr="confusion_ries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404" y="3028950"/>
            <a:ext cx="4815191" cy="3429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1000" y="6591300"/>
            <a:ext cx="762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A95AC"/>
                </a:solidFill>
                <a:latin typeface="Segoe UI"/>
              </a:rPr>
              <a:t>GEMA · Gemelo digital metabólico — Lima, Perú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1999" y="659130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95AC"/>
                </a:solidFill>
                <a:latin typeface="Segoe UI"/>
              </a:rPr>
              <a:t>Modelo 1 · Random Forest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09550"/>
            <a:ext cx="10572750" cy="742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400" b="1">
                <a:solidFill>
                  <a:srgbClr val="EAF0FA"/>
                </a:solidFill>
                <a:latin typeface="Segoe UI"/>
              </a:rPr>
              <a:t>Modelo 2 · ¿Cuánto te subirá la glucosa este plato?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8A95AC"/>
                </a:solidFill>
                <a:latin typeface="Segoe UI"/>
              </a:rPr>
              <a:t>Gradient Boosting: anticipa el pico de glucosa antes de comer, para decidir a tiempo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9000" y="285750"/>
            <a:ext cx="857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1FD0A3"/>
                </a:solidFill>
                <a:latin typeface="Segoe UI"/>
              </a:rPr>
              <a:t>3 /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000" y="1066800"/>
            <a:ext cx="3733799" cy="1809750"/>
          </a:xfrm>
          <a:prstGeom prst="roundRect">
            <a:avLst>
              <a:gd name="adj" fmla="val 7000"/>
            </a:avLst>
          </a:prstGeom>
          <a:solidFill>
            <a:srgbClr val="131A2C"/>
          </a:solidFill>
          <a:ln w="17780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4350" y="1162050"/>
            <a:ext cx="3467100" cy="1619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4DA3FF"/>
                </a:solidFill>
                <a:latin typeface="Segoe UI"/>
              </a:rPr>
              <a:t>QUÉ RECIBE · 8 datos de la comida y el momento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EAF0FA"/>
                </a:solidFill>
                <a:latin typeface="Segoe UI"/>
              </a:rPr>
              <a:t>• Del plato (foto analizada por la IA de la app): carbohidratos, índice glucémico y carga del plato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EAF0FA"/>
                </a:solidFill>
                <a:latin typeface="Segoe UI"/>
              </a:rPr>
              <a:t>• Del momento: glucosa al sentarse a comer y hora del día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EAF0FA"/>
                </a:solidFill>
                <a:latin typeface="Segoe UI"/>
              </a:rPr>
              <a:t>• Del smartwatch: caminata después de comer, sueño de anoche y ritmo cardíaco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066800"/>
            <a:ext cx="3733799" cy="1809750"/>
          </a:xfrm>
          <a:prstGeom prst="roundRect">
            <a:avLst>
              <a:gd name="adj" fmla="val 7000"/>
            </a:avLst>
          </a:prstGeom>
          <a:solidFill>
            <a:srgbClr val="131A2C"/>
          </a:solidFill>
          <a:ln w="17780">
            <a:solidFill>
              <a:srgbClr val="1FD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76750" y="1162050"/>
            <a:ext cx="3467100" cy="1619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1FD0A3"/>
                </a:solidFill>
                <a:latin typeface="Segoe UI"/>
              </a:rPr>
              <a:t>QUÉ DEVUELVE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EAF0FA"/>
                </a:solidFill>
                <a:latin typeface="Segoe UI"/>
              </a:rPr>
              <a:t>• El pico de glucosa que ese plato causará ~60 minutos después, en mg/dL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EAF0FA"/>
                </a:solidFill>
                <a:latin typeface="Segoe UI"/>
              </a:rPr>
              <a:t>• Con esto la app actualiza el ICM del día y el estado del gemelo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05800" y="1066800"/>
            <a:ext cx="3733799" cy="1809750"/>
          </a:xfrm>
          <a:prstGeom prst="roundRect">
            <a:avLst>
              <a:gd name="adj" fmla="val 7000"/>
            </a:avLst>
          </a:prstGeom>
          <a:solidFill>
            <a:srgbClr val="131A2C"/>
          </a:solidFill>
          <a:ln w="17780">
            <a:solidFill>
              <a:srgbClr val="FFB2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150" y="1162050"/>
            <a:ext cx="3467100" cy="1619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FFB23E"/>
                </a:solidFill>
                <a:latin typeface="Segoe UI"/>
              </a:rPr>
              <a:t>QUÉ TAN BIEN FUNCIONA · 1 800 comidas de prueba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EAF0FA"/>
                </a:solidFill>
                <a:latin typeface="Segoe UI"/>
              </a:rPr>
              <a:t>• Error promedio de ±6 mg/dL — la meta clínica era ±15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EAF0FA"/>
                </a:solidFill>
                <a:latin typeface="Segoe UI"/>
              </a:rPr>
              <a:t>• 9 de cada 10 predicciones (93.8 %) caen dentro del margen aceptado de ±15 mg/dL</a:t>
            </a:r>
          </a:p>
        </p:txBody>
      </p:sp>
      <p:pic>
        <p:nvPicPr>
          <p:cNvPr id="10" name="Picture 9" descr="pred_vs_real_p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591" y="3028950"/>
            <a:ext cx="4058816" cy="3429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1000" y="6591300"/>
            <a:ext cx="762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A95AC"/>
                </a:solidFill>
                <a:latin typeface="Segoe UI"/>
              </a:rPr>
              <a:t>GEMA · Gemelo digital metabólico — Lima, Perú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1999" y="659130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95AC"/>
                </a:solidFill>
                <a:latin typeface="Segoe UI"/>
              </a:rPr>
              <a:t>Modelo 2 · Gradient Boosting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09550"/>
            <a:ext cx="10572750" cy="742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400" b="1">
                <a:solidFill>
                  <a:srgbClr val="EAF0FA"/>
                </a:solidFill>
                <a:latin typeface="Segoe UI"/>
              </a:rPr>
              <a:t>El modelo en acción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8A95AC"/>
                </a:solidFill>
                <a:latin typeface="Segoe UI"/>
              </a:rPr>
              <a:t>Las predicciones se convierten en decisiones concretas y medibles — y así sigue creciendo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49000" y="285750"/>
            <a:ext cx="8572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100" b="1">
                <a:solidFill>
                  <a:srgbClr val="1FD0A3"/>
                </a:solidFill>
                <a:latin typeface="Segoe UI"/>
              </a:rPr>
              <a:t>4 / 4</a:t>
            </a:r>
          </a:p>
        </p:txBody>
      </p:sp>
      <p:pic>
        <p:nvPicPr>
          <p:cNvPr id="4" name="Picture 3" descr="escenarios_what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70" y="1066800"/>
            <a:ext cx="5687786" cy="3143250"/>
          </a:xfrm>
          <a:prstGeom prst="rect">
            <a:avLst/>
          </a:prstGeom>
        </p:spPr>
      </p:pic>
      <p:pic>
        <p:nvPicPr>
          <p:cNvPr id="5" name="Picture 4" descr="importancias_ries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3906" y="1066800"/>
            <a:ext cx="5617723" cy="314325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81000" y="4476750"/>
            <a:ext cx="3733799" cy="1238250"/>
          </a:xfrm>
          <a:prstGeom prst="roundRect">
            <a:avLst>
              <a:gd name="adj" fmla="val 7000"/>
            </a:avLst>
          </a:prstGeom>
          <a:solidFill>
            <a:srgbClr val="131A2C"/>
          </a:solidFill>
          <a:ln w="17780">
            <a:solidFill>
              <a:srgbClr val="1FD0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4350" y="4572000"/>
            <a:ext cx="3467100" cy="104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1FD0A3"/>
                </a:solidFill>
                <a:latin typeface="Segoe UI"/>
              </a:rPr>
              <a:t>HOY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EAF0FA"/>
                </a:solidFill>
                <a:latin typeface="Segoe UI"/>
              </a:rPr>
              <a:t>Entrenado con población simulada, construida con estudios poblacionales (Perú y EE. UU.) y fisiología publicada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4476750"/>
            <a:ext cx="3733799" cy="1238250"/>
          </a:xfrm>
          <a:prstGeom prst="roundRect">
            <a:avLst>
              <a:gd name="adj" fmla="val 7000"/>
            </a:avLst>
          </a:prstGeom>
          <a:solidFill>
            <a:srgbClr val="131A2C"/>
          </a:solidFill>
          <a:ln w="17780">
            <a:solidFill>
              <a:srgbClr val="4DA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76750" y="4572000"/>
            <a:ext cx="3467100" cy="104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4DA3FF"/>
                </a:solidFill>
                <a:latin typeface="Segoe UI"/>
              </a:rPr>
              <a:t>PILOTO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EAF0FA"/>
                </a:solidFill>
                <a:latin typeface="Segoe UI"/>
              </a:rPr>
              <a:t>2 semanas de calibración por usuario, con sensor de glucosa real y smartwatch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05800" y="4476750"/>
            <a:ext cx="3733799" cy="1238250"/>
          </a:xfrm>
          <a:prstGeom prst="roundRect">
            <a:avLst>
              <a:gd name="adj" fmla="val 7000"/>
            </a:avLst>
          </a:prstGeom>
          <a:solidFill>
            <a:srgbClr val="131A2C"/>
          </a:solidFill>
          <a:ln w="1778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9150" y="4572000"/>
            <a:ext cx="3467100" cy="104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A78BFA"/>
                </a:solidFill>
                <a:latin typeface="Segoe UI"/>
              </a:rPr>
              <a:t>FUTURO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EAF0FA"/>
                </a:solidFill>
                <a:latin typeface="Segoe UI"/>
              </a:rPr>
              <a:t>El modelo aprende continuamente de cada usuario y afina sus predicciones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000" y="6591300"/>
            <a:ext cx="762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8A95AC"/>
                </a:solidFill>
                <a:latin typeface="Segoe UI"/>
              </a:rPr>
              <a:t>GEMA · Gemelo digital metabólico — Lima, Perú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1999" y="6591300"/>
            <a:ext cx="3429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8A95AC"/>
                </a:solidFill>
                <a:latin typeface="Segoe UI"/>
              </a:rPr>
              <a:t>Del dato a la decisión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